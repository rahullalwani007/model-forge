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  <p:embeddedFont>
      <p:font typeface="Lexend SemiBold"/>
      <p:regular r:id="rId13"/>
      <p:bold r:id="rId14"/>
    </p:embeddedFont>
    <p:embeddedFont>
      <p:font typeface="Lexend Medium"/>
      <p:regular r:id="rId15"/>
      <p:bold r:id="rId16"/>
    </p:embeddedFon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a/rnXgllStIyWi5dzVsAydQo6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schemas.openxmlformats.org/officeDocument/2006/relationships/font" Target="fonts/LexendSemiBold-regular.fntdata"/><Relationship Id="rId12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Medium-regular.fntdata"/><Relationship Id="rId14" Type="http://schemas.openxmlformats.org/officeDocument/2006/relationships/font" Target="fonts/LexendSemiBold-bold.fntdata"/><Relationship Id="rId17" Type="http://schemas.openxmlformats.org/officeDocument/2006/relationships/font" Target="fonts/Lexend-regular.fntdata"/><Relationship Id="rId16" Type="http://schemas.openxmlformats.org/officeDocument/2006/relationships/font" Target="fonts/LexendMedium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Lexen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0a3a2dbc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0a3a2dbc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dp,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38488" l="22229" r="33953" t="1602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257962"/>
            <a:ext cx="3657600" cy="9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784860" y="1472392"/>
            <a:ext cx="10622400" cy="4811700"/>
          </a:xfrm>
          <a:prstGeom prst="rect">
            <a:avLst/>
          </a:prstGeom>
          <a:solidFill>
            <a:srgbClr val="F2F2F2">
              <a:alpha val="70196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2192250" y="1786525"/>
            <a:ext cx="7887300" cy="199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</a:rPr>
              <a:t>      T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itle </a:t>
            </a:r>
            <a:r>
              <a:rPr lang="en-US" sz="3500">
                <a:solidFill>
                  <a:schemeClr val="dk1"/>
                </a:solidFill>
              </a:rPr>
              <a:t>:</a:t>
            </a:r>
            <a:r>
              <a:rPr lang="en-US" sz="35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CCD 2026</a:t>
            </a:r>
            <a:endParaRPr sz="3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Domain: </a:t>
            </a:r>
            <a:r>
              <a:rPr lang="en-US" sz="35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COMPUTER VISION</a:t>
            </a:r>
            <a:endParaRPr sz="35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    </a:t>
            </a:r>
            <a:r>
              <a:rPr lang="en-US" sz="3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TEAM</a:t>
            </a:r>
            <a:r>
              <a:rPr lang="en-US" sz="3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-US" sz="35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: GSM</a:t>
            </a:r>
            <a:endParaRPr sz="35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797050" y="4014325"/>
            <a:ext cx="85980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Objective</a:t>
            </a:r>
            <a:r>
              <a:rPr lang="en-US" sz="2800">
                <a:solidFill>
                  <a:schemeClr val="dk1"/>
                </a:solidFill>
              </a:rPr>
              <a:t>:To build a fully automated system capable of detecting human subjects in classroom environments and accurately estimating student counts to enable attendance monitoring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96" name="Google Shape;9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dp,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38488" l="22229" r="33953" t="1602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257962"/>
            <a:ext cx="3657600" cy="9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rgbClr val="F2F2F2">
              <a:alpha val="70196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459350" y="1757725"/>
            <a:ext cx="3170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</a:rPr>
              <a:t>Tech Stack</a:t>
            </a:r>
            <a:endParaRPr b="1" sz="1900"/>
          </a:p>
        </p:txBody>
      </p:sp>
      <p:sp>
        <p:nvSpPr>
          <p:cNvPr id="101" name="Google Shape;101;p2"/>
          <p:cNvSpPr txBox="1"/>
          <p:nvPr/>
        </p:nvSpPr>
        <p:spPr>
          <a:xfrm>
            <a:off x="1858775" y="2731600"/>
            <a:ext cx="8250000" cy="3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1)</a:t>
            </a:r>
            <a:r>
              <a:rPr b="1" lang="en-US" sz="2800">
                <a:solidFill>
                  <a:schemeClr val="dk1"/>
                </a:solidFill>
              </a:rPr>
              <a:t>Programming Language </a:t>
            </a:r>
            <a:r>
              <a:rPr lang="en-US" sz="2800">
                <a:solidFill>
                  <a:schemeClr val="dk1"/>
                </a:solidFill>
              </a:rPr>
              <a:t>: Python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2)</a:t>
            </a:r>
            <a:r>
              <a:rPr b="1" lang="en-US" sz="2800">
                <a:solidFill>
                  <a:schemeClr val="dk1"/>
                </a:solidFill>
              </a:rPr>
              <a:t>Model Used </a:t>
            </a:r>
            <a:r>
              <a:rPr lang="en-US" sz="2800">
                <a:solidFill>
                  <a:schemeClr val="dk1"/>
                </a:solidFill>
              </a:rPr>
              <a:t>: YOLO v8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3)</a:t>
            </a:r>
            <a:r>
              <a:rPr b="1" lang="en-US" sz="2800">
                <a:solidFill>
                  <a:schemeClr val="dk1"/>
                </a:solidFill>
              </a:rPr>
              <a:t>Libraries Used</a:t>
            </a:r>
            <a:r>
              <a:rPr lang="en-US" sz="2800">
                <a:solidFill>
                  <a:schemeClr val="dk1"/>
                </a:solidFill>
              </a:rPr>
              <a:t> : CV2,Numpy,Pandas,Matplotlib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4)</a:t>
            </a:r>
            <a:r>
              <a:rPr b="1" lang="en-US" sz="2800">
                <a:solidFill>
                  <a:schemeClr val="dk1"/>
                </a:solidFill>
              </a:rPr>
              <a:t>Tools Used</a:t>
            </a:r>
            <a:r>
              <a:rPr lang="en-US" sz="2800">
                <a:solidFill>
                  <a:schemeClr val="dk1"/>
                </a:solidFill>
              </a:rPr>
              <a:t> : Kaggle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07" name="Google Shape;10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dp,</a:t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38488" l="22229" r="33953" t="1602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257962"/>
            <a:ext cx="3657600" cy="9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rgbClr val="F2F2F2">
              <a:alpha val="70196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121568" y="1854498"/>
            <a:ext cx="9948877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</a:rPr>
              <a:t>Architecture diagram o</a:t>
            </a:r>
            <a:r>
              <a:rPr b="1" lang="en-US" sz="3500">
                <a:solidFill>
                  <a:schemeClr val="dk1"/>
                </a:solidFill>
              </a:rPr>
              <a:t>f</a:t>
            </a:r>
            <a:r>
              <a:rPr b="1" i="0" lang="en-US" sz="3500" u="none" cap="none" strike="noStrike">
                <a:solidFill>
                  <a:schemeClr val="dk1"/>
                </a:solidFill>
              </a:rPr>
              <a:t> Performing model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12" name="Google Shape;112;p3" title="46d8721d-4126-49d5-af62-099bfe2dee0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0800" y="2554475"/>
            <a:ext cx="5375002" cy="358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0a3a2dbc1_0_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0a3a2dbc1_0_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g3c0a3a2dbc1_0_13"/>
          <p:cNvPicPr preferRelativeResize="0"/>
          <p:nvPr/>
        </p:nvPicPr>
        <p:blipFill rotWithShape="1">
          <a:blip r:embed="rId3">
            <a:alphaModFix/>
          </a:blip>
          <a:srcRect b="38489" l="22228" r="33954" t="16024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c0a3a2dbc1_0_13"/>
          <p:cNvSpPr txBox="1"/>
          <p:nvPr/>
        </p:nvSpPr>
        <p:spPr>
          <a:xfrm>
            <a:off x="3584150" y="658250"/>
            <a:ext cx="41901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21" name="Google Shape;121;g3c0a3a2dbc1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257962"/>
            <a:ext cx="3657600" cy="9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c0a3a2dbc1_0_13"/>
          <p:cNvSpPr/>
          <p:nvPr/>
        </p:nvSpPr>
        <p:spPr>
          <a:xfrm>
            <a:off x="784860" y="1472392"/>
            <a:ext cx="10622400" cy="4811700"/>
          </a:xfrm>
          <a:prstGeom prst="rect">
            <a:avLst/>
          </a:prstGeom>
          <a:solidFill>
            <a:srgbClr val="F2F2F2">
              <a:alpha val="70200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c0a3a2dbc1_0_13"/>
          <p:cNvSpPr txBox="1"/>
          <p:nvPr/>
        </p:nvSpPr>
        <p:spPr>
          <a:xfrm>
            <a:off x="5106525" y="1772475"/>
            <a:ext cx="2131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Result:</a:t>
            </a:r>
            <a:endParaRPr b="1" sz="3500">
              <a:solidFill>
                <a:schemeClr val="dk1"/>
              </a:solidFill>
            </a:endParaRPr>
          </a:p>
        </p:txBody>
      </p:sp>
      <p:pic>
        <p:nvPicPr>
          <p:cNvPr id="124" name="Google Shape;124;g3c0a3a2dbc1_0_13" title="5ce14847-6d61-4d20-90ec-218e039e8f3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2325" y="2669500"/>
            <a:ext cx="6258299" cy="3122674"/>
          </a:xfrm>
          <a:prstGeom prst="rect">
            <a:avLst/>
          </a:prstGeom>
          <a:solidFill>
            <a:srgbClr val="F2F2F2">
              <a:alpha val="70200"/>
            </a:srgbClr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25" name="Google Shape;125;g3c0a3a2dbc1_0_13"/>
          <p:cNvSpPr txBox="1"/>
          <p:nvPr/>
        </p:nvSpPr>
        <p:spPr>
          <a:xfrm>
            <a:off x="9626275" y="5382225"/>
            <a:ext cx="258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31" name="Google Shape;131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dp,</a:t>
            </a:r>
            <a:endParaRPr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38488" l="22229" r="33953" t="16025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257962"/>
            <a:ext cx="3657600" cy="9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697850" y="1472400"/>
            <a:ext cx="10622400" cy="5072400"/>
          </a:xfrm>
          <a:prstGeom prst="rect">
            <a:avLst/>
          </a:prstGeom>
          <a:solidFill>
            <a:srgbClr val="F2F2F2">
              <a:alpha val="70196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714625" y="1685221"/>
            <a:ext cx="676275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</a:rPr>
              <a:t>Performance metrics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36" name="Google Shape;136;p4" title="Screenshot 2026-02-25 1532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9360" y="2316175"/>
            <a:ext cx="4506141" cy="35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6237450" y="2586600"/>
            <a:ext cx="46977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We have </a:t>
            </a:r>
            <a:r>
              <a:rPr lang="en-US" sz="2600">
                <a:solidFill>
                  <a:schemeClr val="dk1"/>
                </a:solidFill>
              </a:rPr>
              <a:t>trained</a:t>
            </a:r>
            <a:r>
              <a:rPr lang="en-US" sz="2600">
                <a:solidFill>
                  <a:schemeClr val="dk1"/>
                </a:solidFill>
              </a:rPr>
              <a:t> two models of yolo v8 (s&amp;m)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We have implemented Weighted boxes Fusion to </a:t>
            </a:r>
            <a:r>
              <a:rPr lang="en-US" sz="2600">
                <a:solidFill>
                  <a:schemeClr val="dk1"/>
                </a:solidFill>
              </a:rPr>
              <a:t>improve</a:t>
            </a:r>
            <a:r>
              <a:rPr lang="en-US" sz="2600">
                <a:solidFill>
                  <a:schemeClr val="dk1"/>
                </a:solidFill>
              </a:rPr>
              <a:t> Map score and to reduce error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43" name="Google Shape;14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dp,</a:t>
            </a:r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 b="38488" l="22229" r="33953" t="1602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257962"/>
            <a:ext cx="3657600" cy="9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784860" y="1472392"/>
            <a:ext cx="10622280" cy="4811847"/>
          </a:xfrm>
          <a:prstGeom prst="rect">
            <a:avLst/>
          </a:prstGeom>
          <a:solidFill>
            <a:srgbClr val="F2F2F2">
              <a:alpha val="70196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598624" y="1685225"/>
            <a:ext cx="4668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</a:rPr>
              <a:t>Conclusion:</a:t>
            </a:r>
            <a:endParaRPr b="1"/>
          </a:p>
        </p:txBody>
      </p:sp>
      <p:sp>
        <p:nvSpPr>
          <p:cNvPr id="148" name="Google Shape;148;p5"/>
          <p:cNvSpPr txBox="1"/>
          <p:nvPr/>
        </p:nvSpPr>
        <p:spPr>
          <a:xfrm>
            <a:off x="1220800" y="2543125"/>
            <a:ext cx="9525900" cy="3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1)</a:t>
            </a:r>
            <a:r>
              <a:rPr lang="en-US" sz="1800">
                <a:solidFill>
                  <a:schemeClr val="dk1"/>
                </a:solidFill>
              </a:rPr>
              <a:t>Developed a robust classroom student detection and counting system using YOLOv8 ensemble architecture.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2)Effectively handled occlusions, small objects, and overlapping students through optimized augmentation and post-processing strategies.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3)Applied confidence tuning and filtering to reduce false positives and prevent double counting.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4)Followed a time-aware, safety-first training strategy to ensure reliable results.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5)Built a scalable and reproducible framework with potential for future expansion into multi-class detection and real-time deployment.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2026-02-25T08:06:46Z</dcterms:created>
  <dc:creator>John Dinakar</dc:creator>
</cp:coreProperties>
</file>